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9" r:id="rId2"/>
  </p:sldIdLst>
  <p:sldSz cx="27432000" cy="16459200"/>
  <p:notesSz cx="6858000" cy="9144000"/>
  <p:defaultTextStyle>
    <a:defPPr>
      <a:defRPr lang="en-US"/>
    </a:defPPr>
    <a:lvl1pPr marL="0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1pPr>
    <a:lvl2pPr marL="989949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2pPr>
    <a:lvl3pPr marL="1979898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3pPr>
    <a:lvl4pPr marL="2969849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4pPr>
    <a:lvl5pPr marL="3959798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5pPr>
    <a:lvl6pPr marL="4949748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6pPr>
    <a:lvl7pPr marL="5939697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7pPr>
    <a:lvl8pPr marL="6929647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8pPr>
    <a:lvl9pPr marL="7919597" algn="l" defTabSz="1979898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00">
          <p15:clr>
            <a:srgbClr val="A4A3A4"/>
          </p15:clr>
        </p15:guide>
        <p15:guide id="2" pos="75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172F"/>
    <a:srgbClr val="0101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1018" y="53"/>
      </p:cViewPr>
      <p:guideLst>
        <p:guide orient="horz" pos="8400"/>
        <p:guide pos="75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7B708-2555-834C-97B8-35CDF758D65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14C12-B17B-E54E-8510-11A7CCA69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55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&quot; x 60&quot;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435430" y="304800"/>
            <a:ext cx="26561143" cy="1676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 anchor="ctr" anchorCtr="1"/>
          <a:lstStyle>
            <a:lvl1pPr>
              <a:defRPr sz="35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Poster Presentation Title</a:t>
            </a:r>
            <a:br>
              <a:rPr lang="en-US" dirty="0"/>
            </a:b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Author Name(s)</a:t>
            </a:r>
            <a:b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Affiliated Institutions</a:t>
            </a:r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1" y="2155371"/>
            <a:ext cx="6422571" cy="533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2400" dirty="0"/>
              <a:t>Abstract or Introduction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44501" y="2808514"/>
            <a:ext cx="6422571" cy="43434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 baseline="0"/>
            </a:lvl1pPr>
            <a:lvl2pPr marL="225196" indent="0">
              <a:buNone/>
              <a:defRPr sz="1500" baseline="0"/>
            </a:lvl2pPr>
            <a:lvl3pPr marL="438053" indent="0">
              <a:buNone/>
              <a:defRPr sz="1500" baseline="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435430" y="7315200"/>
            <a:ext cx="6422571" cy="533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2400" dirty="0"/>
              <a:t>Objectives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435430" y="8001000"/>
            <a:ext cx="6422571" cy="36576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marR="0" indent="0" algn="l" defTabSz="197989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marL="0" marR="0" lvl="0" indent="0" algn="l" defTabSz="197989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435430" y="11811000"/>
            <a:ext cx="6422571" cy="533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2400" dirty="0"/>
              <a:t>Methods</a:t>
            </a:r>
            <a:endParaRPr lang="en-US" dirty="0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35430" y="12496800"/>
            <a:ext cx="6422571" cy="3635829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marR="0" indent="0" algn="l" defTabSz="197989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marL="0" marR="0" lvl="0" indent="0" algn="l" defTabSz="197989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Copy and paste title bars and text boxes to create additional sections.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7175501" y="2155371"/>
            <a:ext cx="6422571" cy="533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2400" dirty="0"/>
              <a:t>Results</a:t>
            </a:r>
            <a:endParaRPr lang="en-US" dirty="0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20574001" y="12409714"/>
            <a:ext cx="6422571" cy="3722914"/>
          </a:xfrm>
          <a:prstGeom prst="rect">
            <a:avLst/>
          </a:prstGeom>
        </p:spPr>
        <p:txBody>
          <a:bodyPr vert="horz" lIns="88844" tIns="44422" rIns="88844" bIns="44422"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20574001" y="2155371"/>
            <a:ext cx="6422571" cy="533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2400" dirty="0"/>
              <a:t>Conclusion</a:t>
            </a:r>
            <a:endParaRPr lang="en-US" dirty="0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9"/>
          </p:nvPr>
        </p:nvSpPr>
        <p:spPr>
          <a:xfrm>
            <a:off x="20574001" y="2808514"/>
            <a:ext cx="6422571" cy="8839200"/>
          </a:xfrm>
          <a:prstGeom prst="rect">
            <a:avLst/>
          </a:prstGeom>
        </p:spPr>
        <p:txBody>
          <a:bodyPr vert="horz" lIns="88844" tIns="44422" rIns="88844" bIns="44422"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20574001" y="11756571"/>
            <a:ext cx="6422571" cy="533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2400" dirty="0"/>
              <a:t>References</a:t>
            </a:r>
            <a:endParaRPr lang="en-US" dirty="0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7175501" y="2808514"/>
            <a:ext cx="6422571" cy="133350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 baseline="0"/>
            </a:lvl1pPr>
            <a:lvl2pPr marL="225196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2" hasCustomPrompt="1"/>
          </p:nvPr>
        </p:nvSpPr>
        <p:spPr>
          <a:xfrm>
            <a:off x="762003" y="457200"/>
            <a:ext cx="1959429" cy="1371600"/>
          </a:xfrm>
          <a:prstGeom prst="rect">
            <a:avLst/>
          </a:prstGeom>
          <a:solidFill>
            <a:schemeClr val="bg1"/>
          </a:solidFill>
        </p:spPr>
        <p:txBody>
          <a:bodyPr vert="horz" lIns="88844" tIns="44422" rIns="88844" bIns="44422"/>
          <a:lstStyle>
            <a:lvl1pPr marL="0" indent="0">
              <a:buNone/>
              <a:defRPr sz="1200"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7" name="Picture Placeholder 35"/>
          <p:cNvSpPr>
            <a:spLocks noGrp="1"/>
          </p:cNvSpPr>
          <p:nvPr>
            <p:ph type="pic" sz="quarter" idx="23" hasCustomPrompt="1"/>
          </p:nvPr>
        </p:nvSpPr>
        <p:spPr>
          <a:xfrm>
            <a:off x="24819431" y="457200"/>
            <a:ext cx="1959429" cy="1371600"/>
          </a:xfrm>
          <a:prstGeom prst="rect">
            <a:avLst/>
          </a:prstGeom>
          <a:solidFill>
            <a:schemeClr val="bg1"/>
          </a:solidFill>
        </p:spPr>
        <p:txBody>
          <a:bodyPr vert="horz" lIns="88844" tIns="44422" rIns="88844" bIns="44422"/>
          <a:lstStyle>
            <a:lvl1pPr marL="0" indent="0">
              <a:buNone/>
              <a:defRPr sz="1200"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9" name="Chart Placeholder 38"/>
          <p:cNvSpPr>
            <a:spLocks noGrp="1"/>
          </p:cNvSpPr>
          <p:nvPr>
            <p:ph type="chart" sz="quarter" idx="24"/>
          </p:nvPr>
        </p:nvSpPr>
        <p:spPr>
          <a:xfrm>
            <a:off x="7683500" y="8033657"/>
            <a:ext cx="5434482" cy="33528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40" name="Chart Placeholder 38"/>
          <p:cNvSpPr>
            <a:spLocks noGrp="1"/>
          </p:cNvSpPr>
          <p:nvPr>
            <p:ph type="chart" sz="quarter" idx="25"/>
          </p:nvPr>
        </p:nvSpPr>
        <p:spPr>
          <a:xfrm>
            <a:off x="7683500" y="12279086"/>
            <a:ext cx="5434482" cy="33528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26" hasCustomPrompt="1"/>
          </p:nvPr>
        </p:nvSpPr>
        <p:spPr>
          <a:xfrm>
            <a:off x="13843001" y="2155371"/>
            <a:ext cx="6422571" cy="5334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88844" tIns="44422" rIns="88844" bIns="44422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2400" dirty="0"/>
              <a:t>Results</a:t>
            </a:r>
            <a:endParaRPr lang="en-US" dirty="0"/>
          </a:p>
        </p:txBody>
      </p:sp>
      <p:sp>
        <p:nvSpPr>
          <p:cNvPr id="43" name="Text Placeholder 23"/>
          <p:cNvSpPr>
            <a:spLocks noGrp="1"/>
          </p:cNvSpPr>
          <p:nvPr>
            <p:ph type="body" sz="quarter" idx="27"/>
          </p:nvPr>
        </p:nvSpPr>
        <p:spPr>
          <a:xfrm>
            <a:off x="13843001" y="2808514"/>
            <a:ext cx="6422571" cy="133350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 baseline="0"/>
            </a:lvl1pPr>
            <a:lvl2pPr marL="225196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endParaRPr lang="en-US" dirty="0"/>
          </a:p>
        </p:txBody>
      </p:sp>
      <p:sp>
        <p:nvSpPr>
          <p:cNvPr id="44" name="Chart Placeholder 38"/>
          <p:cNvSpPr>
            <a:spLocks noGrp="1"/>
          </p:cNvSpPr>
          <p:nvPr>
            <p:ph type="chart" sz="quarter" idx="28"/>
          </p:nvPr>
        </p:nvSpPr>
        <p:spPr>
          <a:xfrm>
            <a:off x="14414500" y="12279086"/>
            <a:ext cx="5434482" cy="33528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45" name="Chart Placeholder 38"/>
          <p:cNvSpPr>
            <a:spLocks noGrp="1"/>
          </p:cNvSpPr>
          <p:nvPr>
            <p:ph type="chart" sz="quarter" idx="29"/>
          </p:nvPr>
        </p:nvSpPr>
        <p:spPr>
          <a:xfrm>
            <a:off x="14414500" y="8033657"/>
            <a:ext cx="5434482" cy="33528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46" name="Chart Placeholder 38"/>
          <p:cNvSpPr>
            <a:spLocks noGrp="1"/>
          </p:cNvSpPr>
          <p:nvPr>
            <p:ph type="chart" sz="quarter" idx="30"/>
          </p:nvPr>
        </p:nvSpPr>
        <p:spPr>
          <a:xfrm>
            <a:off x="14414500" y="3918857"/>
            <a:ext cx="5434482" cy="3352800"/>
          </a:xfrm>
          <a:prstGeom prst="rect">
            <a:avLst/>
          </a:prstGeom>
        </p:spPr>
        <p:txBody>
          <a:bodyPr vert="horz" lIns="88844" tIns="44422" rIns="88844" bIns="44422"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pic>
        <p:nvPicPr>
          <p:cNvPr id="3" name="Picture 2" descr="Log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9400" y="16192707"/>
            <a:ext cx="1371600" cy="2194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979898" rtl="0" eaLnBrk="1" latinLnBrk="0" hangingPunct="1">
        <a:spcBef>
          <a:spcPct val="0"/>
        </a:spcBef>
        <a:buNone/>
        <a:defRPr sz="9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2463" indent="-742463" algn="l" defTabSz="1979898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608668" indent="-618719" algn="l" defTabSz="1979898" rtl="0" eaLnBrk="1" latinLnBrk="0" hangingPunct="1">
        <a:spcBef>
          <a:spcPct val="20000"/>
        </a:spcBef>
        <a:buFont typeface="Arial" pitchFamily="34" charset="0"/>
        <a:buChar char="–"/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2474875" indent="-494975" algn="l" defTabSz="1979898" rtl="0" eaLnBrk="1" latinLnBrk="0" hangingPunct="1">
        <a:spcBef>
          <a:spcPct val="20000"/>
        </a:spcBef>
        <a:buFont typeface="Arial" pitchFamily="34" charset="0"/>
        <a:buChar char="•"/>
        <a:defRPr sz="5100" kern="1200">
          <a:solidFill>
            <a:schemeClr val="tx1"/>
          </a:solidFill>
          <a:latin typeface="+mn-lt"/>
          <a:ea typeface="+mn-ea"/>
          <a:cs typeface="+mn-cs"/>
        </a:defRPr>
      </a:lvl3pPr>
      <a:lvl4pPr marL="3464824" indent="-494975" algn="l" defTabSz="1979898" rtl="0" eaLnBrk="1" latinLnBrk="0" hangingPunct="1">
        <a:spcBef>
          <a:spcPct val="20000"/>
        </a:spcBef>
        <a:buFont typeface="Arial" pitchFamily="34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4pPr>
      <a:lvl5pPr marL="4454773" indent="-494975" algn="l" defTabSz="1979898" rtl="0" eaLnBrk="1" latinLnBrk="0" hangingPunct="1">
        <a:spcBef>
          <a:spcPct val="20000"/>
        </a:spcBef>
        <a:buFont typeface="Arial" pitchFamily="34" charset="0"/>
        <a:buChar char="»"/>
        <a:defRPr sz="4400" kern="1200">
          <a:solidFill>
            <a:schemeClr val="tx1"/>
          </a:solidFill>
          <a:latin typeface="+mn-lt"/>
          <a:ea typeface="+mn-ea"/>
          <a:cs typeface="+mn-cs"/>
        </a:defRPr>
      </a:lvl5pPr>
      <a:lvl6pPr marL="5444722" indent="-494975" algn="l" defTabSz="1979898" rtl="0" eaLnBrk="1" latinLnBrk="0" hangingPunct="1">
        <a:spcBef>
          <a:spcPct val="20000"/>
        </a:spcBef>
        <a:buFont typeface="Arial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6pPr>
      <a:lvl7pPr marL="6434671" indent="-494975" algn="l" defTabSz="1979898" rtl="0" eaLnBrk="1" latinLnBrk="0" hangingPunct="1">
        <a:spcBef>
          <a:spcPct val="20000"/>
        </a:spcBef>
        <a:buFont typeface="Arial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7pPr>
      <a:lvl8pPr marL="7424622" indent="-494975" algn="l" defTabSz="1979898" rtl="0" eaLnBrk="1" latinLnBrk="0" hangingPunct="1">
        <a:spcBef>
          <a:spcPct val="20000"/>
        </a:spcBef>
        <a:buFont typeface="Arial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8pPr>
      <a:lvl9pPr marL="8414571" indent="-494975" algn="l" defTabSz="1979898" rtl="0" eaLnBrk="1" latinLnBrk="0" hangingPunct="1">
        <a:spcBef>
          <a:spcPct val="20000"/>
        </a:spcBef>
        <a:buFont typeface="Arial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89949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979898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3pPr>
      <a:lvl4pPr marL="2969849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59798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949748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939697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929647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919597" algn="l" defTabSz="1979898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doi.org/10.1109/iciis51140.2020.9342639" TargetMode="External"/><Relationship Id="rId7" Type="http://schemas.openxmlformats.org/officeDocument/2006/relationships/image" Target="../media/image3.jpg"/><Relationship Id="rId2" Type="http://schemas.openxmlformats.org/officeDocument/2006/relationships/hyperlink" Target="https://doi.org/10.1007/s00607-021-00908-y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hyperlink" Target="http://eprints.utar.edu.my/id/eprint/5523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doi.org/10.1109/idciot59759.2024.10467258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rgbClr val="FFFFFF"/>
                </a:solidFill>
              </a:rPr>
              <a:t>Customer Segmentation of Mall Shoppers Using Unsupervised Machine Learning</a:t>
            </a:r>
            <a:endParaRPr lang="en-US" dirty="0"/>
          </a:p>
          <a:p>
            <a:pPr algn="ctr"/>
            <a:r>
              <a:rPr sz="2000" b="1" dirty="0">
                <a:solidFill>
                  <a:srgbClr val="FFFFFF"/>
                </a:solidFill>
              </a:rPr>
              <a:t>Hello World</a:t>
            </a:r>
            <a:r>
              <a:rPr lang="en-US" sz="2000" b="1" dirty="0">
                <a:solidFill>
                  <a:srgbClr val="FFFFFF"/>
                </a:solidFill>
              </a:rPr>
              <a:t> Team (Lohithaksh Annarapu, Vaidya Sree Ganesh, Vasanth Vasa)</a:t>
            </a:r>
            <a:endParaRPr sz="2000" b="1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0" dirty="0"/>
              <a:t>Customer segmentation is a key retail analytics technique enabling businesses to identify distinct shopper groups based on purchasing behavior. This study applies five unsupervised ML algorithms to the Mall Customers dataset (n=200), using </a:t>
            </a:r>
            <a:r>
              <a:rPr sz="1100" b="1" dirty="0"/>
              <a:t>Annual Income </a:t>
            </a:r>
            <a:r>
              <a:rPr sz="1100" b="0" dirty="0"/>
              <a:t>and </a:t>
            </a:r>
            <a:r>
              <a:rPr sz="1100" b="1" dirty="0"/>
              <a:t>Spending Score </a:t>
            </a:r>
            <a:r>
              <a:rPr sz="1100" b="0" dirty="0"/>
              <a:t>as primary clustering features. Five distinct segments were identified </a:t>
            </a:r>
            <a:r>
              <a:rPr lang="en-US" sz="1100" dirty="0"/>
              <a:t>- </a:t>
            </a:r>
            <a:r>
              <a:rPr sz="1100" b="0" dirty="0"/>
              <a:t>VIP, Target, Impulsive, Budget, and Regular customers. K-Means (k=5) achieved the highest silhouette score (0.55), confirming well-separated, meaningful clusters with clear business implications.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 dirty="0"/>
              <a:t>1. Explore </a:t>
            </a:r>
            <a:r>
              <a:rPr sz="1100" b="0" dirty="0"/>
              <a:t>demographic and behavioral patterns through EDA.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100" b="1" dirty="0"/>
              <a:t>2. Identify </a:t>
            </a:r>
            <a:r>
              <a:rPr sz="1100" b="0" dirty="0"/>
              <a:t>features most correlated with spending behavior.</a:t>
            </a:r>
          </a:p>
          <a:p>
            <a:pPr>
              <a:spcAft>
                <a:spcPts val="400"/>
              </a:spcAft>
            </a:pPr>
            <a:r>
              <a:rPr sz="1100" b="1" dirty="0"/>
              <a:t>3. Apply &amp; compare </a:t>
            </a:r>
            <a:r>
              <a:rPr sz="1100" b="0" dirty="0"/>
              <a:t>K-Means, Agglomerative, GMM, DBSCAN, Mean Shift.</a:t>
            </a:r>
          </a:p>
          <a:p>
            <a:pPr>
              <a:spcAft>
                <a:spcPts val="400"/>
              </a:spcAft>
            </a:pPr>
            <a:r>
              <a:rPr sz="1100" b="1" dirty="0"/>
              <a:t>4. Determine </a:t>
            </a:r>
            <a:r>
              <a:rPr sz="1100" b="0" dirty="0"/>
              <a:t>optimal cluster count via Elbow Method &amp; Silhouette Score.</a:t>
            </a:r>
          </a:p>
          <a:p>
            <a:pPr>
              <a:spcAft>
                <a:spcPts val="400"/>
              </a:spcAft>
            </a:pPr>
            <a:r>
              <a:rPr sz="1100" b="1" dirty="0"/>
              <a:t>5. Translate </a:t>
            </a:r>
            <a:r>
              <a:rPr sz="1100" b="0" dirty="0"/>
              <a:t>clusters into actionable customer personas for marketing.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 dirty="0"/>
              <a:t>Dataset: </a:t>
            </a:r>
            <a:r>
              <a:rPr sz="1100" b="0" dirty="0"/>
              <a:t>Mall_Customers.csv </a:t>
            </a:r>
            <a:r>
              <a:rPr lang="en-US" sz="1100" b="0" dirty="0"/>
              <a:t>-</a:t>
            </a:r>
            <a:r>
              <a:rPr sz="1100" b="0" dirty="0"/>
              <a:t> 200 records, 5 features: </a:t>
            </a:r>
            <a:r>
              <a:rPr sz="1100" b="0" dirty="0" err="1"/>
              <a:t>CustomerID</a:t>
            </a:r>
            <a:r>
              <a:rPr sz="1100" b="0" dirty="0"/>
              <a:t>, Gender, Age, Annual Income (k$), Spending Score (1–100).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100" b="1" dirty="0"/>
              <a:t>Preprocessing: </a:t>
            </a:r>
            <a:r>
              <a:rPr sz="1100" b="0" dirty="0"/>
              <a:t>Zero nulls &amp; duplicates. Gender encoded (M=0, F=1). </a:t>
            </a:r>
            <a:r>
              <a:rPr sz="1100" b="0" dirty="0" err="1"/>
              <a:t>StandardScaler</a:t>
            </a:r>
            <a:r>
              <a:rPr sz="1100" b="0" dirty="0"/>
              <a:t> applied for DBSCAN &amp; Mean Shift.</a:t>
            </a:r>
          </a:p>
          <a:p>
            <a:pPr>
              <a:spcAft>
                <a:spcPts val="400"/>
              </a:spcAft>
            </a:pPr>
            <a:r>
              <a:rPr sz="1100" b="1" dirty="0"/>
              <a:t>Feature Selection: </a:t>
            </a:r>
            <a:r>
              <a:rPr sz="1100" b="0" dirty="0"/>
              <a:t>Correlation heatmap </a:t>
            </a:r>
            <a:r>
              <a:rPr lang="en-US" sz="1100" b="0" dirty="0"/>
              <a:t>-</a:t>
            </a:r>
            <a:r>
              <a:rPr sz="1100" b="0" dirty="0"/>
              <a:t> Income &amp; Spending Score most positively related; used as primary 2-feature input.</a:t>
            </a:r>
          </a:p>
          <a:p>
            <a:pPr>
              <a:spcAft>
                <a:spcPts val="400"/>
              </a:spcAft>
            </a:pPr>
            <a:r>
              <a:rPr sz="1100" b="1" dirty="0"/>
              <a:t>Algorithms: </a:t>
            </a:r>
            <a:r>
              <a:rPr sz="1100" b="0" dirty="0"/>
              <a:t>K-Means (k-means++, k=5); Agglomerative/Ward (Dendrogram); GMM (5 components); DBSCAN (eps=0.5); Mean Shift (auto-bandwidth).</a:t>
            </a:r>
          </a:p>
          <a:p>
            <a:pPr>
              <a:spcAft>
                <a:spcPts val="400"/>
              </a:spcAft>
            </a:pPr>
            <a:r>
              <a:rPr sz="1100" b="1" dirty="0"/>
              <a:t>Evaluation: </a:t>
            </a:r>
            <a:r>
              <a:rPr sz="1100" b="0" dirty="0"/>
              <a:t>Silhouette Score across all models. Tools: Python · scikit-learn · </a:t>
            </a:r>
            <a:r>
              <a:rPr sz="1100" b="0" dirty="0" err="1"/>
              <a:t>yellowbrick</a:t>
            </a:r>
            <a:r>
              <a:rPr sz="1100" b="0" dirty="0"/>
              <a:t> · seaborn · matplotlib.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20410264" y="11194597"/>
            <a:ext cx="6649808" cy="4659086"/>
          </a:xfrm>
        </p:spPr>
        <p:txBody>
          <a:bodyPr wrap="square"/>
          <a:lstStyle/>
          <a:p>
            <a:r>
              <a:rPr lang="en-US" dirty="0"/>
              <a:t>[1] P. Lalwani, M. K. Mishra, J. S. Chadha, and P. Sethi, “Customer churn prediction system: a machine learning approach,” Computing, vol. 104, Feb. 2021,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u="sng" dirty="0">
                <a:hlinkClick r:id="rId2"/>
              </a:rPr>
              <a:t>https://doi.org/10.1007/s00607-021-00908-y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[2] E. Y. L. </a:t>
            </a:r>
            <a:r>
              <a:rPr lang="en-US" dirty="0" err="1"/>
              <a:t>Nandapala</a:t>
            </a:r>
            <a:r>
              <a:rPr lang="en-US" dirty="0"/>
              <a:t> and K. P. N. Jayasena, “The practical approach in Customers segmentation by using the K-Means Algorithm,” 2020 IEEE 15th International Conference on Industrial and Information Systems (ICIIS), Nov. 2020,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u="sng" dirty="0">
                <a:hlinkClick r:id="rId3"/>
              </a:rPr>
              <a:t>https://doi.org/10.1109/iciis51140.2020.9342639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‌</a:t>
            </a:r>
          </a:p>
          <a:p>
            <a:r>
              <a:rPr lang="en-US" dirty="0"/>
              <a:t>[3] N. Tressa, V Asha, P. Kumar, Om Shree, Uday Kiran M, and S. Reddy, “Customer-Based Market Segmentation Using Clustering in Data mining,” Jan. 2024,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u="sng" dirty="0">
                <a:hlinkClick r:id="rId4"/>
              </a:rPr>
              <a:t>https://doi.org/10.1109/idciot59759.2024.10467258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‌</a:t>
            </a:r>
          </a:p>
          <a:p>
            <a:r>
              <a:rPr lang="en-US" dirty="0"/>
              <a:t>[4] W. X. Toh, “Customer segmentation on clustering algorithms,” eprints.utar.edu.my, Jan. 01, 2023. </a:t>
            </a:r>
            <a:r>
              <a:rPr lang="en-US" u="sng" dirty="0">
                <a:hlinkClick r:id="rId5"/>
              </a:rPr>
              <a:t>http://eprints.utar.edu.my/id/eprint/5523</a:t>
            </a:r>
            <a:r>
              <a:rPr lang="en-US" dirty="0"/>
              <a:t>.</a:t>
            </a:r>
          </a:p>
          <a:p>
            <a:pPr>
              <a:spcAft>
                <a:spcPts val="400"/>
              </a:spcAft>
            </a:pPr>
            <a:endParaRPr sz="1000" b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0" dirty="0"/>
              <a:t>K-Means with 2 features (Income + Spending Score, k=5) produced the best-separated clusters (Silhouette = 0.55), outperforming all other algorithms. The five segments provide clear, actionable personas. Agglomerative Clustering confirmed the 5-cluster structure via dendrogram. DBSCAN underperformed due to non-uniform density. GMM and Mean Shift produced visually similar segments but with lower compactness scores. Future work: incorporate visit frequency and product category features, apply PCA, and test on larger real-world retail datasets.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20510501" y="10356658"/>
            <a:ext cx="6422571" cy="53340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 wrap="square"/>
          <a:lstStyle/>
          <a:p>
            <a:r>
              <a:rPr lang="en-US" sz="1100" b="1" dirty="0"/>
              <a:t>K-Means (2 features, k=5)</a:t>
            </a:r>
            <a:endParaRPr lang="en-US" sz="1100" dirty="0"/>
          </a:p>
          <a:p>
            <a:r>
              <a:rPr lang="en-US" sz="1100" dirty="0"/>
              <a:t>Cluster 0 - Regular: Avg income ~55k, avg spend ~50, n=81</a:t>
            </a:r>
          </a:p>
          <a:p>
            <a:r>
              <a:rPr lang="en-US" sz="1100" dirty="0"/>
              <a:t>Cluster 1 - VIP: Avg income ~86k, avg spend ~82, n=23</a:t>
            </a:r>
          </a:p>
          <a:p>
            <a:r>
              <a:rPr lang="en-US" sz="1100" dirty="0"/>
              <a:t>Cluster 2 - Impulsive: Avg income ~26k, avg spend ~79, n=22</a:t>
            </a:r>
          </a:p>
          <a:p>
            <a:r>
              <a:rPr lang="en-US" sz="1100" dirty="0"/>
              <a:t>Cluster 3 - Target: Avg income ~86k, avg spend ~17, n=28</a:t>
            </a:r>
          </a:p>
          <a:p>
            <a:r>
              <a:rPr lang="en-US" sz="1100" dirty="0"/>
              <a:t>Cluster 4 - Budget: Avg income ~26k, avg spend ~20, n=22</a:t>
            </a:r>
          </a:p>
          <a:p>
            <a:r>
              <a:rPr lang="en-US" sz="1100" dirty="0"/>
              <a:t>Silhouette Score: </a:t>
            </a:r>
            <a:r>
              <a:rPr lang="en-US" sz="1100" b="1" dirty="0"/>
              <a:t>0.55</a:t>
            </a:r>
            <a:endParaRPr lang="en-US" sz="1100" dirty="0"/>
          </a:p>
          <a:p>
            <a:r>
              <a:rPr lang="en-US" sz="1100" b="1" dirty="0"/>
              <a:t>K-Means (3 features, k=6)</a:t>
            </a:r>
            <a:endParaRPr lang="en-US" sz="1100" dirty="0"/>
          </a:p>
          <a:p>
            <a:r>
              <a:rPr lang="en-US" sz="1100" dirty="0"/>
              <a:t>Splits VIP into two sub-groups (income 90k+ vs moderate high)</a:t>
            </a:r>
          </a:p>
          <a:p>
            <a:r>
              <a:rPr lang="en-US" sz="1100" dirty="0"/>
              <a:t>Silhouette Score: </a:t>
            </a:r>
            <a:r>
              <a:rPr lang="en-US" sz="1100" b="1" dirty="0"/>
              <a:t>0.45</a:t>
            </a:r>
            <a:endParaRPr lang="en-US" sz="1100" dirty="0"/>
          </a:p>
          <a:p>
            <a:r>
              <a:rPr lang="en-US" sz="1100" b="1" dirty="0"/>
              <a:t>Agglomerative Clustering (k=5)</a:t>
            </a:r>
            <a:endParaRPr lang="en-US" sz="1100" dirty="0"/>
          </a:p>
          <a:p>
            <a:r>
              <a:rPr lang="en-US" sz="1100" dirty="0"/>
              <a:t>Produces same 5 segments as K-Means, confirmed by dendrogram cut at y=125</a:t>
            </a:r>
          </a:p>
          <a:p>
            <a:r>
              <a:rPr lang="en-US" sz="1100" dirty="0"/>
              <a:t>Silhouette Score: </a:t>
            </a:r>
            <a:r>
              <a:rPr lang="en-US" sz="1100" b="1" dirty="0"/>
              <a:t>0.51</a:t>
            </a:r>
            <a:endParaRPr lang="en-US" sz="1100" dirty="0"/>
          </a:p>
          <a:p>
            <a:r>
              <a:rPr lang="en-US" sz="1100" b="1" dirty="0"/>
              <a:t>Gaussian Mixture Model - GMM (k=5)</a:t>
            </a:r>
            <a:endParaRPr lang="en-US" sz="1100" dirty="0"/>
          </a:p>
          <a:p>
            <a:r>
              <a:rPr lang="en-US" sz="1100" dirty="0"/>
              <a:t>Similar 5-group structure with soft/probabilistic boundaries</a:t>
            </a:r>
          </a:p>
          <a:p>
            <a:r>
              <a:rPr lang="en-US" sz="1100" dirty="0"/>
              <a:t>Silhouette Score: </a:t>
            </a:r>
            <a:r>
              <a:rPr lang="en-US" sz="1100" b="1" dirty="0"/>
              <a:t>0.47</a:t>
            </a:r>
            <a:endParaRPr lang="en-US" sz="1100" dirty="0"/>
          </a:p>
          <a:p>
            <a:r>
              <a:rPr lang="en-US" sz="1100" b="1" dirty="0"/>
              <a:t>Mean Shift (auto k=3)</a:t>
            </a:r>
            <a:endParaRPr lang="en-US" sz="1100" dirty="0"/>
          </a:p>
          <a:p>
            <a:r>
              <a:rPr lang="en-US" sz="1100" dirty="0"/>
              <a:t>Auto-detected only 3 clusters - merges some segments together</a:t>
            </a:r>
          </a:p>
          <a:p>
            <a:r>
              <a:rPr lang="en-US" sz="1100" dirty="0"/>
              <a:t>Silhouette Score: </a:t>
            </a:r>
            <a:r>
              <a:rPr lang="en-US" sz="1100" b="1" dirty="0"/>
              <a:t>0.40</a:t>
            </a:r>
            <a:endParaRPr lang="en-US" sz="1100" dirty="0"/>
          </a:p>
          <a:p>
            <a:r>
              <a:rPr lang="en-US" sz="1100" b="1" dirty="0"/>
              <a:t>DBSCAN (eps=0.5, </a:t>
            </a:r>
            <a:r>
              <a:rPr lang="en-US" sz="1100" b="1" dirty="0" err="1"/>
              <a:t>min_samples</a:t>
            </a:r>
            <a:r>
              <a:rPr lang="en-US" sz="1100" b="1" dirty="0"/>
              <a:t>=5)</a:t>
            </a:r>
            <a:endParaRPr lang="en-US" sz="1100" dirty="0"/>
          </a:p>
          <a:p>
            <a:r>
              <a:rPr lang="en-US" sz="1100" dirty="0"/>
              <a:t>Struggled with non-uniform density, many points marked as noise (label = -1)</a:t>
            </a:r>
          </a:p>
          <a:p>
            <a:r>
              <a:rPr lang="en-US" sz="1100" dirty="0"/>
              <a:t>Silhouette Score: </a:t>
            </a:r>
            <a:r>
              <a:rPr lang="en-US" sz="1100" b="1" dirty="0"/>
              <a:t>0.24</a:t>
            </a:r>
            <a:endParaRPr lang="en-US" sz="11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Model Comparison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7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/>
              <a:t>Silhouette Scores (higher = better separation):</a:t>
            </a:r>
            <a:endParaRPr lang="en-US"/>
          </a:p>
          <a:p>
            <a:pPr>
              <a:spcAft>
                <a:spcPts val="400"/>
              </a:spcAft>
            </a:pPr>
            <a:r>
              <a:rPr sz="1100" b="0"/>
              <a:t>★ K-Means (k=5, 2 features):   0.55  ← Best</a:t>
            </a:r>
          </a:p>
          <a:p>
            <a:pPr>
              <a:spcAft>
                <a:spcPts val="400"/>
              </a:spcAft>
            </a:pPr>
            <a:r>
              <a:rPr sz="1100" b="0"/>
              <a:t>   Agglomerative (k=5):         0.51</a:t>
            </a:r>
          </a:p>
          <a:p>
            <a:pPr>
              <a:spcAft>
                <a:spcPts val="400"/>
              </a:spcAft>
            </a:pPr>
            <a:r>
              <a:rPr sz="1100" b="0"/>
              <a:t>   GMM (k=5):                   0.47</a:t>
            </a:r>
          </a:p>
          <a:p>
            <a:pPr>
              <a:spcAft>
                <a:spcPts val="400"/>
              </a:spcAft>
            </a:pPr>
            <a:r>
              <a:rPr sz="1100" b="0"/>
              <a:t>   K-Means (k=6, 3 features):   0.45</a:t>
            </a:r>
          </a:p>
          <a:p>
            <a:pPr>
              <a:spcAft>
                <a:spcPts val="400"/>
              </a:spcAft>
            </a:pPr>
            <a:r>
              <a:rPr sz="1100" b="0"/>
              <a:t>   Mean Shift (auto-k):         0.40</a:t>
            </a:r>
          </a:p>
          <a:p>
            <a:pPr>
              <a:spcAft>
                <a:spcPts val="400"/>
              </a:spcAft>
            </a:pPr>
            <a:r>
              <a:rPr sz="1100" b="0"/>
              <a:t>   DBSCAN (eps=0.5):            0.24</a:t>
            </a:r>
          </a:p>
        </p:txBody>
      </p:sp>
      <p:pic>
        <p:nvPicPr>
          <p:cNvPr id="24" name="Picture 23" descr="img_kmea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8822" y="7315200"/>
            <a:ext cx="6195399" cy="4050847"/>
          </a:xfrm>
          <a:prstGeom prst="rect">
            <a:avLst/>
          </a:prstGeom>
        </p:spPr>
      </p:pic>
      <p:pic>
        <p:nvPicPr>
          <p:cNvPr id="26" name="Picture 25" descr="img_dendro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8672" y="11485791"/>
            <a:ext cx="6334347" cy="4367892"/>
          </a:xfrm>
          <a:prstGeom prst="rect">
            <a:avLst/>
          </a:prstGeom>
        </p:spPr>
      </p:pic>
      <p:pic>
        <p:nvPicPr>
          <p:cNvPr id="27" name="Picture 26" descr="img_agglomerat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28599" y="4950278"/>
            <a:ext cx="7033506" cy="50360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F756C1-E552-B887-130E-A8A8BEA3E4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34814" y="10427156"/>
            <a:ext cx="6649808" cy="50360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2C98C3-386B-EF91-8139-711C843F9B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17160" y="4405158"/>
            <a:ext cx="7298152" cy="533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5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910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Customer Segmentation of Mall Shoppers Using Unsupervised Machine Learning Hello World Team (Lohithaksh Annarapu, Vaidya Sree Ganesh, Vasanth Vasa)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Daniel Viens</dc:creator>
  <cp:lastModifiedBy>Vasanth Vasa</cp:lastModifiedBy>
  <cp:revision>35</cp:revision>
  <dcterms:created xsi:type="dcterms:W3CDTF">2013-01-28T22:40:39Z</dcterms:created>
  <dcterms:modified xsi:type="dcterms:W3CDTF">2026-05-09T02:05:45Z</dcterms:modified>
</cp:coreProperties>
</file>